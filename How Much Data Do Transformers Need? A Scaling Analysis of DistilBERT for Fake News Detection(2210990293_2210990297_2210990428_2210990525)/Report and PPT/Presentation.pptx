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6858000" cx="9144000"/>
  <p:notesSz cx="7559675" cy="106918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18" roundtripDataSignature="AMtx7mirl7UllCVqmJsEgJuHZ2gYUNv8G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C26F8D9-7F41-4AFF-BFF1-C21CB2E7EF92}">
  <a:tblStyle styleId="{FC26F8D9-7F41-4AFF-BFF1-C21CB2E7EF9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6" Type="http://schemas.openxmlformats.org/officeDocument/2006/relationships/notesMaster" Target="notesMasters/notesMaster1.xml"/><Relationship Id="rId18" Type="http://customschemas.google.com/relationships/presentationmetadata" Target="meta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276600" cy="5365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281488" y="0"/>
            <a:ext cx="3276600" cy="536575"/>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10155238"/>
            <a:ext cx="3276600" cy="5365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1: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p1: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 name="Google Shape;81;p1:notes"/>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82" name="Google Shape;82;p1:notes"/>
          <p:cNvSpPr txBox="1"/>
          <p:nvPr>
            <p:ph idx="11" type="ftr"/>
          </p:nvPr>
        </p:nvSpPr>
        <p:spPr>
          <a:xfrm>
            <a:off x="0" y="10155238"/>
            <a:ext cx="3276600" cy="53657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Name of the faculty [Group: G00] [Sem:2nd]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e680274e0a_0_9: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95" name="Google Shape;95;g3e680274e0a_0_9: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g3e680274e0a_0_9: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e680274e0a_0_19: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e680274e0a_0_19: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g3e680274e0a_0_19: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e680274e0a_0_30: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e680274e0a_0_30: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g3e680274e0a_0_30: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e680274e0a_0_40: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e680274e0a_0_40: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g3e680274e0a_0_40: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e680274e0a_0_51: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e680274e0a_0_51: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g3e680274e0a_0_51: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e680274e0a_0_57: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e680274e0a_0_57: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g3e680274e0a_0_57: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e680274e0a_0_73: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e680274e0a_0_73: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g3e680274e0a_0_73: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e680274e0a_0_82: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e680274e0a_0_82: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g3e680274e0a_0_82: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3: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3: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0" name="Shape 3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31" name="Shape 31"/>
        <p:cNvGrpSpPr/>
        <p:nvPr/>
      </p:nvGrpSpPr>
      <p:grpSpPr>
        <a:xfrm>
          <a:off x="0" y="0"/>
          <a:ext cx="0" cy="0"/>
          <a:chOff x="0" y="0"/>
          <a:chExt cx="0" cy="0"/>
        </a:xfrm>
      </p:grpSpPr>
      <p:sp>
        <p:nvSpPr>
          <p:cNvPr id="32" name="Google Shape;32;p6"/>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6"/>
          <p:cNvSpPr txBox="1"/>
          <p:nvPr>
            <p:ph idx="1" type="subTitle"/>
          </p:nvPr>
        </p:nvSpPr>
        <p:spPr>
          <a:xfrm>
            <a:off x="457200" y="1604520"/>
            <a:ext cx="8229240" cy="3977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34" name="Shape 34"/>
        <p:cNvGrpSpPr/>
        <p:nvPr/>
      </p:nvGrpSpPr>
      <p:grpSpPr>
        <a:xfrm>
          <a:off x="0" y="0"/>
          <a:ext cx="0" cy="0"/>
          <a:chOff x="0" y="0"/>
          <a:chExt cx="0" cy="0"/>
        </a:xfrm>
      </p:grpSpPr>
      <p:sp>
        <p:nvSpPr>
          <p:cNvPr id="35" name="Google Shape;35;p7"/>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7"/>
          <p:cNvSpPr txBox="1"/>
          <p:nvPr>
            <p:ph idx="1" type="body"/>
          </p:nvPr>
        </p:nvSpPr>
        <p:spPr>
          <a:xfrm>
            <a:off x="457200" y="1604520"/>
            <a:ext cx="822924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37" name="Shape 37"/>
        <p:cNvGrpSpPr/>
        <p:nvPr/>
      </p:nvGrpSpPr>
      <p:grpSpPr>
        <a:xfrm>
          <a:off x="0" y="0"/>
          <a:ext cx="0" cy="0"/>
          <a:chOff x="0" y="0"/>
          <a:chExt cx="0" cy="0"/>
        </a:xfrm>
      </p:grpSpPr>
      <p:sp>
        <p:nvSpPr>
          <p:cNvPr id="38" name="Google Shape;38;p8"/>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8"/>
          <p:cNvSpPr txBox="1"/>
          <p:nvPr>
            <p:ph idx="1" type="body"/>
          </p:nvPr>
        </p:nvSpPr>
        <p:spPr>
          <a:xfrm>
            <a:off x="45720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8"/>
          <p:cNvSpPr txBox="1"/>
          <p:nvPr>
            <p:ph idx="2" type="body"/>
          </p:nvPr>
        </p:nvSpPr>
        <p:spPr>
          <a:xfrm>
            <a:off x="467424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9"/>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43" name="Shape 43"/>
        <p:cNvGrpSpPr/>
        <p:nvPr/>
      </p:nvGrpSpPr>
      <p:grpSpPr>
        <a:xfrm>
          <a:off x="0" y="0"/>
          <a:ext cx="0" cy="0"/>
          <a:chOff x="0" y="0"/>
          <a:chExt cx="0" cy="0"/>
        </a:xfrm>
      </p:grpSpPr>
      <p:sp>
        <p:nvSpPr>
          <p:cNvPr id="44" name="Google Shape;44;p10"/>
          <p:cNvSpPr txBox="1"/>
          <p:nvPr>
            <p:ph idx="1" type="subTitle"/>
          </p:nvPr>
        </p:nvSpPr>
        <p:spPr>
          <a:xfrm>
            <a:off x="0" y="0"/>
            <a:ext cx="5486040" cy="4238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45" name="Shape 45"/>
        <p:cNvGrpSpPr/>
        <p:nvPr/>
      </p:nvGrpSpPr>
      <p:grpSpPr>
        <a:xfrm>
          <a:off x="0" y="0"/>
          <a:ext cx="0" cy="0"/>
          <a:chOff x="0" y="0"/>
          <a:chExt cx="0" cy="0"/>
        </a:xfrm>
      </p:grpSpPr>
      <p:sp>
        <p:nvSpPr>
          <p:cNvPr id="46" name="Google Shape;46;p11"/>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1"/>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11"/>
          <p:cNvSpPr txBox="1"/>
          <p:nvPr>
            <p:ph idx="2" type="body"/>
          </p:nvPr>
        </p:nvSpPr>
        <p:spPr>
          <a:xfrm>
            <a:off x="467424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11"/>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50" name="Shape 50"/>
        <p:cNvGrpSpPr/>
        <p:nvPr/>
      </p:nvGrpSpPr>
      <p:grpSpPr>
        <a:xfrm>
          <a:off x="0" y="0"/>
          <a:ext cx="0" cy="0"/>
          <a:chOff x="0" y="0"/>
          <a:chExt cx="0" cy="0"/>
        </a:xfrm>
      </p:grpSpPr>
      <p:sp>
        <p:nvSpPr>
          <p:cNvPr id="51" name="Google Shape;51;p12"/>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12"/>
          <p:cNvSpPr txBox="1"/>
          <p:nvPr>
            <p:ph idx="1" type="body"/>
          </p:nvPr>
        </p:nvSpPr>
        <p:spPr>
          <a:xfrm>
            <a:off x="45720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12"/>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12"/>
          <p:cNvSpPr txBox="1"/>
          <p:nvPr>
            <p:ph idx="3"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55" name="Shape 55"/>
        <p:cNvGrpSpPr/>
        <p:nvPr/>
      </p:nvGrpSpPr>
      <p:grpSpPr>
        <a:xfrm>
          <a:off x="0" y="0"/>
          <a:ext cx="0" cy="0"/>
          <a:chOff x="0" y="0"/>
          <a:chExt cx="0" cy="0"/>
        </a:xfrm>
      </p:grpSpPr>
      <p:sp>
        <p:nvSpPr>
          <p:cNvPr id="56" name="Google Shape;56;p13"/>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13"/>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13"/>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13"/>
          <p:cNvSpPr txBox="1"/>
          <p:nvPr>
            <p:ph idx="3"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60" name="Shape 60"/>
        <p:cNvGrpSpPr/>
        <p:nvPr/>
      </p:nvGrpSpPr>
      <p:grpSpPr>
        <a:xfrm>
          <a:off x="0" y="0"/>
          <a:ext cx="0" cy="0"/>
          <a:chOff x="0" y="0"/>
          <a:chExt cx="0" cy="0"/>
        </a:xfrm>
      </p:grpSpPr>
      <p:sp>
        <p:nvSpPr>
          <p:cNvPr id="61" name="Google Shape;61;p14"/>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4"/>
          <p:cNvSpPr txBox="1"/>
          <p:nvPr>
            <p:ph idx="1" type="body"/>
          </p:nvPr>
        </p:nvSpPr>
        <p:spPr>
          <a:xfrm>
            <a:off x="457200" y="160452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14"/>
          <p:cNvSpPr txBox="1"/>
          <p:nvPr>
            <p:ph idx="2"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64" name="Shape 64"/>
        <p:cNvGrpSpPr/>
        <p:nvPr/>
      </p:nvGrpSpPr>
      <p:grpSpPr>
        <a:xfrm>
          <a:off x="0" y="0"/>
          <a:ext cx="0" cy="0"/>
          <a:chOff x="0" y="0"/>
          <a:chExt cx="0" cy="0"/>
        </a:xfrm>
      </p:grpSpPr>
      <p:sp>
        <p:nvSpPr>
          <p:cNvPr id="65" name="Google Shape;65;p15"/>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5"/>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15"/>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15"/>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15"/>
          <p:cNvSpPr txBox="1"/>
          <p:nvPr>
            <p:ph idx="4"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70" name="Shape 70"/>
        <p:cNvGrpSpPr/>
        <p:nvPr/>
      </p:nvGrpSpPr>
      <p:grpSpPr>
        <a:xfrm>
          <a:off x="0" y="0"/>
          <a:ext cx="0" cy="0"/>
          <a:chOff x="0" y="0"/>
          <a:chExt cx="0" cy="0"/>
        </a:xfrm>
      </p:grpSpPr>
      <p:sp>
        <p:nvSpPr>
          <p:cNvPr id="71" name="Google Shape;71;p16"/>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6"/>
          <p:cNvSpPr txBox="1"/>
          <p:nvPr>
            <p:ph idx="1" type="body"/>
          </p:nvPr>
        </p:nvSpPr>
        <p:spPr>
          <a:xfrm>
            <a:off x="45720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16"/>
          <p:cNvSpPr txBox="1"/>
          <p:nvPr>
            <p:ph idx="2" type="body"/>
          </p:nvPr>
        </p:nvSpPr>
        <p:spPr>
          <a:xfrm>
            <a:off x="323964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16"/>
          <p:cNvSpPr txBox="1"/>
          <p:nvPr>
            <p:ph idx="3" type="body"/>
          </p:nvPr>
        </p:nvSpPr>
        <p:spPr>
          <a:xfrm>
            <a:off x="602208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6"/>
          <p:cNvSpPr txBox="1"/>
          <p:nvPr>
            <p:ph idx="4" type="body"/>
          </p:nvPr>
        </p:nvSpPr>
        <p:spPr>
          <a:xfrm>
            <a:off x="45720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16"/>
          <p:cNvSpPr txBox="1"/>
          <p:nvPr>
            <p:ph idx="5" type="body"/>
          </p:nvPr>
        </p:nvSpPr>
        <p:spPr>
          <a:xfrm>
            <a:off x="323964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6"/>
          <p:cNvSpPr txBox="1"/>
          <p:nvPr>
            <p:ph idx="6" type="body"/>
          </p:nvPr>
        </p:nvSpPr>
        <p:spPr>
          <a:xfrm>
            <a:off x="602208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png"/><Relationship Id="rId2" Type="http://schemas.openxmlformats.org/officeDocument/2006/relationships/image" Target="../media/image2.jp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theme" Target="../theme/theme1.xml"/><Relationship Id="rId14" Type="http://schemas.openxmlformats.org/officeDocument/2006/relationships/slideLayout" Target="../slideLayouts/slideLayout1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4"/>
          <p:cNvSpPr/>
          <p:nvPr/>
        </p:nvSpPr>
        <p:spPr>
          <a:xfrm>
            <a:off x="0" y="0"/>
            <a:ext cx="9143640" cy="837720"/>
          </a:xfrm>
          <a:prstGeom prst="rect">
            <a:avLst/>
          </a:prstGeom>
          <a:solidFill>
            <a:srgbClr val="FF33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4"/>
          <p:cNvSpPr/>
          <p:nvPr/>
        </p:nvSpPr>
        <p:spPr>
          <a:xfrm flipH="1" rot="10800000">
            <a:off x="0" y="6704640"/>
            <a:ext cx="9143640" cy="197640"/>
          </a:xfrm>
          <a:prstGeom prst="rect">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gif" id="12" name="Google Shape;12;p4"/>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pic>
        <p:nvPicPr>
          <p:cNvPr descr="LOGO.gif" id="13" name="Google Shape;13;p4"/>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grpSp>
        <p:nvGrpSpPr>
          <p:cNvPr id="14" name="Google Shape;14;p4"/>
          <p:cNvGrpSpPr/>
          <p:nvPr/>
        </p:nvGrpSpPr>
        <p:grpSpPr>
          <a:xfrm>
            <a:off x="6146640" y="0"/>
            <a:ext cx="2997000" cy="875880"/>
            <a:chOff x="6146640" y="0"/>
            <a:chExt cx="2997000" cy="875880"/>
          </a:xfrm>
        </p:grpSpPr>
        <p:sp>
          <p:nvSpPr>
            <p:cNvPr id="15" name="Google Shape;15;p4"/>
            <p:cNvSpPr/>
            <p:nvPr/>
          </p:nvSpPr>
          <p:spPr>
            <a:xfrm>
              <a:off x="6146640" y="0"/>
              <a:ext cx="2997000" cy="837720"/>
            </a:xfrm>
            <a:prstGeom prst="rect">
              <a:avLst/>
            </a:prstGeom>
            <a:solidFill>
              <a:srgbClr val="FF33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gif" id="16" name="Google Shape;16;p4"/>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sp>
          <p:nvSpPr>
            <p:cNvPr id="17" name="Google Shape;17;p4"/>
            <p:cNvSpPr/>
            <p:nvPr/>
          </p:nvSpPr>
          <p:spPr>
            <a:xfrm>
              <a:off x="6527880" y="190440"/>
              <a:ext cx="2076120" cy="68544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logo.jpg" id="18" name="Google Shape;18;p4"/>
          <p:cNvPicPr preferRelativeResize="0"/>
          <p:nvPr/>
        </p:nvPicPr>
        <p:blipFill rotWithShape="1">
          <a:blip r:embed="rId2">
            <a:alphaModFix/>
          </a:blip>
          <a:srcRect b="0" l="0" r="0" t="0"/>
          <a:stretch/>
        </p:blipFill>
        <p:spPr>
          <a:xfrm>
            <a:off x="6553080" y="228600"/>
            <a:ext cx="1920600" cy="609120"/>
          </a:xfrm>
          <a:prstGeom prst="rect">
            <a:avLst/>
          </a:prstGeom>
          <a:noFill/>
          <a:ln>
            <a:noFill/>
          </a:ln>
        </p:spPr>
      </p:pic>
      <p:pic>
        <p:nvPicPr>
          <p:cNvPr descr="LOGO.gif" id="19" name="Google Shape;19;p4"/>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grpSp>
        <p:nvGrpSpPr>
          <p:cNvPr id="20" name="Google Shape;20;p4"/>
          <p:cNvGrpSpPr/>
          <p:nvPr/>
        </p:nvGrpSpPr>
        <p:grpSpPr>
          <a:xfrm>
            <a:off x="6146640" y="0"/>
            <a:ext cx="2997000" cy="875880"/>
            <a:chOff x="6146640" y="0"/>
            <a:chExt cx="2997000" cy="875880"/>
          </a:xfrm>
        </p:grpSpPr>
        <p:sp>
          <p:nvSpPr>
            <p:cNvPr id="21" name="Google Shape;21;p4"/>
            <p:cNvSpPr/>
            <p:nvPr/>
          </p:nvSpPr>
          <p:spPr>
            <a:xfrm>
              <a:off x="6146640" y="0"/>
              <a:ext cx="2997000" cy="837720"/>
            </a:xfrm>
            <a:prstGeom prst="rect">
              <a:avLst/>
            </a:prstGeom>
            <a:solidFill>
              <a:srgbClr val="FF33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gif" id="22" name="Google Shape;22;p4"/>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sp>
          <p:nvSpPr>
            <p:cNvPr id="23" name="Google Shape;23;p4"/>
            <p:cNvSpPr/>
            <p:nvPr/>
          </p:nvSpPr>
          <p:spPr>
            <a:xfrm>
              <a:off x="6527880" y="190440"/>
              <a:ext cx="2076120" cy="68544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logo.jpg" id="24" name="Google Shape;24;p4"/>
          <p:cNvPicPr preferRelativeResize="0"/>
          <p:nvPr/>
        </p:nvPicPr>
        <p:blipFill rotWithShape="1">
          <a:blip r:embed="rId2">
            <a:alphaModFix/>
          </a:blip>
          <a:srcRect b="0" l="0" r="0" t="0"/>
          <a:stretch/>
        </p:blipFill>
        <p:spPr>
          <a:xfrm>
            <a:off x="6553080" y="228600"/>
            <a:ext cx="1920600" cy="609120"/>
          </a:xfrm>
          <a:prstGeom prst="rect">
            <a:avLst/>
          </a:prstGeom>
          <a:noFill/>
          <a:ln>
            <a:noFill/>
          </a:ln>
        </p:spPr>
      </p:pic>
      <p:sp>
        <p:nvSpPr>
          <p:cNvPr id="25" name="Google Shape;25;p4"/>
          <p:cNvSpPr txBox="1"/>
          <p:nvPr>
            <p:ph type="title"/>
          </p:nvPr>
        </p:nvSpPr>
        <p:spPr>
          <a:xfrm>
            <a:off x="0" y="0"/>
            <a:ext cx="6476760" cy="83772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6" name="Google Shape;26;p4"/>
          <p:cNvSpPr txBox="1"/>
          <p:nvPr>
            <p:ph idx="1" type="body"/>
          </p:nvPr>
        </p:nvSpPr>
        <p:spPr>
          <a:xfrm>
            <a:off x="457200" y="1371600"/>
            <a:ext cx="8229240" cy="452556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7" name="Google Shape;27;p4"/>
          <p:cNvSpPr txBox="1"/>
          <p:nvPr>
            <p:ph idx="10" type="dt"/>
          </p:nvPr>
        </p:nvSpPr>
        <p:spPr>
          <a:xfrm>
            <a:off x="457200" y="6356520"/>
            <a:ext cx="2133360" cy="36468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8" name="Google Shape;28;p4"/>
          <p:cNvSpPr txBox="1"/>
          <p:nvPr>
            <p:ph idx="11" type="ftr"/>
          </p:nvPr>
        </p:nvSpPr>
        <p:spPr>
          <a:xfrm>
            <a:off x="3124080" y="6356520"/>
            <a:ext cx="2895120" cy="36468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9" name="Google Shape;29;p4"/>
          <p:cNvSpPr txBox="1"/>
          <p:nvPr>
            <p:ph idx="12" type="sldNum"/>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nvSpPr>
        <p:spPr>
          <a:xfrm>
            <a:off x="0" y="1082175"/>
            <a:ext cx="9144000" cy="5135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i="0" lang="en-US" sz="1800" u="none" cap="none" strike="noStrike">
                <a:solidFill>
                  <a:schemeClr val="dk1"/>
                </a:solidFill>
                <a:latin typeface="Times New Roman"/>
                <a:ea typeface="Times New Roman"/>
                <a:cs typeface="Times New Roman"/>
                <a:sym typeface="Times New Roman"/>
              </a:rPr>
              <a:t>Project Presentation of CO-OP Project at Industry (Module-2) (22CS421)</a:t>
            </a:r>
            <a:endParaRPr b="1" i="0" sz="1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t/>
            </a:r>
            <a:endParaRPr sz="2000">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rPr b="0" i="0" lang="en-US" sz="2000" u="none" cap="none" strike="noStrike">
                <a:solidFill>
                  <a:schemeClr val="dk1"/>
                </a:solidFill>
                <a:latin typeface="Times New Roman"/>
                <a:ea typeface="Times New Roman"/>
                <a:cs typeface="Times New Roman"/>
                <a:sym typeface="Times New Roman"/>
              </a:rPr>
              <a:t>On</a:t>
            </a:r>
            <a:endParaRPr sz="2000">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t/>
            </a:r>
            <a:endParaRPr sz="2000">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rPr b="1" lang="en-US" sz="2500">
                <a:solidFill>
                  <a:schemeClr val="dk1"/>
                </a:solidFill>
                <a:latin typeface="Times New Roman"/>
                <a:ea typeface="Times New Roman"/>
                <a:cs typeface="Times New Roman"/>
                <a:sym typeface="Times New Roman"/>
              </a:rPr>
              <a:t>How Much Data Do Transformers Need?</a:t>
            </a:r>
            <a:endParaRPr b="1" sz="2500">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rPr b="1" lang="en-US" sz="2500">
                <a:solidFill>
                  <a:schemeClr val="dk1"/>
                </a:solidFill>
                <a:latin typeface="Times New Roman"/>
                <a:ea typeface="Times New Roman"/>
                <a:cs typeface="Times New Roman"/>
                <a:sym typeface="Times New Roman"/>
              </a:rPr>
              <a:t>A Scaling Analysis of DistilBERT for Fake News Detection</a:t>
            </a:r>
            <a:endParaRPr b="1" sz="3400"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br>
              <a:rPr b="0" i="0" lang="en-US" sz="2000" u="none" cap="none" strike="noStrike">
                <a:solidFill>
                  <a:srgbClr val="000000"/>
                </a:solidFill>
                <a:latin typeface="Times New Roman"/>
                <a:ea typeface="Times New Roman"/>
                <a:cs typeface="Times New Roman"/>
                <a:sym typeface="Times New Roman"/>
              </a:rPr>
            </a:br>
            <a:endParaRPr/>
          </a:p>
          <a:p>
            <a:pPr indent="0" lvl="0" marL="0" marR="0" rtl="0" algn="ctr">
              <a:lnSpc>
                <a:spcPct val="100000"/>
              </a:lnSpc>
              <a:spcBef>
                <a:spcPts val="40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40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lnSpc>
                <a:spcPct val="100000"/>
              </a:lnSpc>
              <a:spcBef>
                <a:spcPts val="40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rPr b="0" i="0" lang="en-US" sz="2100" u="none" cap="none" strike="noStrike">
                <a:solidFill>
                  <a:schemeClr val="dk1"/>
                </a:solidFill>
                <a:latin typeface="Times New Roman"/>
                <a:ea typeface="Times New Roman"/>
                <a:cs typeface="Times New Roman"/>
                <a:sym typeface="Times New Roman"/>
              </a:rPr>
              <a:t>Department of Computer Science and Engineering, </a:t>
            </a:r>
            <a:endParaRPr sz="1100"/>
          </a:p>
          <a:p>
            <a:pPr indent="0" lvl="0" marL="0" marR="0" rtl="0" algn="ctr">
              <a:lnSpc>
                <a:spcPct val="100000"/>
              </a:lnSpc>
              <a:spcBef>
                <a:spcPts val="400"/>
              </a:spcBef>
              <a:spcAft>
                <a:spcPts val="0"/>
              </a:spcAft>
              <a:buNone/>
            </a:pPr>
            <a:r>
              <a:rPr b="0" i="0" lang="en-US" sz="2100" u="none" cap="none" strike="noStrike">
                <a:solidFill>
                  <a:schemeClr val="dk1"/>
                </a:solidFill>
                <a:latin typeface="Times New Roman"/>
                <a:ea typeface="Times New Roman"/>
                <a:cs typeface="Times New Roman"/>
                <a:sym typeface="Times New Roman"/>
              </a:rPr>
              <a:t>Chitkara University, Punjab</a:t>
            </a:r>
            <a:endParaRPr sz="1100"/>
          </a:p>
          <a:p>
            <a:pPr indent="0" lvl="0" marL="0" marR="0" rtl="0" algn="ctr">
              <a:lnSpc>
                <a:spcPct val="150000"/>
              </a:lnSpc>
              <a:spcBef>
                <a:spcPts val="400"/>
              </a:spcBef>
              <a:spcAft>
                <a:spcPts val="0"/>
              </a:spcAft>
              <a:buNone/>
            </a:pPr>
            <a:r>
              <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641"/>
              </a:spcBef>
              <a:spcAft>
                <a:spcPts val="0"/>
              </a:spcAft>
              <a:buNone/>
            </a:pPr>
            <a:r>
              <a:t/>
            </a:r>
            <a:endParaRPr b="0" i="0" sz="2000" u="none" cap="none" strike="noStrike">
              <a:solidFill>
                <a:srgbClr val="000000"/>
              </a:solidFill>
              <a:latin typeface="Calibri"/>
              <a:ea typeface="Calibri"/>
              <a:cs typeface="Calibri"/>
              <a:sym typeface="Calibri"/>
            </a:endParaRPr>
          </a:p>
        </p:txBody>
      </p:sp>
      <p:graphicFrame>
        <p:nvGraphicFramePr>
          <p:cNvPr id="85" name="Google Shape;85;p1"/>
          <p:cNvGraphicFramePr/>
          <p:nvPr/>
        </p:nvGraphicFramePr>
        <p:xfrm>
          <a:off x="1676038" y="3693250"/>
          <a:ext cx="3000000" cy="3000000"/>
        </p:xfrm>
        <a:graphic>
          <a:graphicData uri="http://schemas.openxmlformats.org/drawingml/2006/table">
            <a:tbl>
              <a:tblPr>
                <a:noFill/>
                <a:tableStyleId>{FC26F8D9-7F41-4AFF-BFF1-C21CB2E7EF92}</a:tableStyleId>
              </a:tblPr>
              <a:tblGrid>
                <a:gridCol w="2889675"/>
                <a:gridCol w="2902250"/>
              </a:tblGrid>
              <a:tr h="381000">
                <a:tc>
                  <a:txBody>
                    <a:bodyPr/>
                    <a:lstStyle/>
                    <a:p>
                      <a:pPr indent="0" lvl="0" marL="0" rtl="0" algn="l">
                        <a:spcBef>
                          <a:spcPts val="0"/>
                        </a:spcBef>
                        <a:spcAft>
                          <a:spcPts val="0"/>
                        </a:spcAft>
                        <a:buNone/>
                      </a:pPr>
                      <a:r>
                        <a:rPr b="1" lang="en-US" sz="1300"/>
                        <a:t>Submitted by:</a:t>
                      </a:r>
                      <a:endParaRPr b="1" sz="1300"/>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r">
                        <a:spcBef>
                          <a:spcPts val="0"/>
                        </a:spcBef>
                        <a:spcAft>
                          <a:spcPts val="0"/>
                        </a:spcAft>
                        <a:buNone/>
                      </a:pPr>
                      <a:r>
                        <a:rPr b="1" lang="en-US" sz="1300"/>
                        <a:t>Supervised By:</a:t>
                      </a:r>
                      <a:endParaRPr b="1" sz="1300"/>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US" sz="1300"/>
                        <a:t>2210990293 Divya Bhoria</a:t>
                      </a:r>
                      <a:endParaRPr b="1" sz="1300"/>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r">
                        <a:spcBef>
                          <a:spcPts val="0"/>
                        </a:spcBef>
                        <a:spcAft>
                          <a:spcPts val="0"/>
                        </a:spcAft>
                        <a:buNone/>
                      </a:pPr>
                      <a:r>
                        <a:rPr b="1" lang="en-US" sz="1300"/>
                        <a:t>Dr. Gurpreet Singh</a:t>
                      </a:r>
                      <a:endParaRPr b="1" sz="1300"/>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US" sz="1300"/>
                        <a:t>2210990297 Divyanoor Singh Saini</a:t>
                      </a:r>
                      <a:endParaRPr b="1" sz="1300"/>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r">
                        <a:spcBef>
                          <a:spcPts val="0"/>
                        </a:spcBef>
                        <a:spcAft>
                          <a:spcPts val="0"/>
                        </a:spcAft>
                        <a:buNone/>
                      </a:pPr>
                      <a:r>
                        <a:rPr b="1" lang="en-US" sz="1300"/>
                        <a:t>Assistant Professor </a:t>
                      </a:r>
                      <a:endParaRPr b="1" sz="1300"/>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US" sz="1300"/>
                        <a:t>2210990428 Jaikirat Dev</a:t>
                      </a:r>
                      <a:endParaRPr b="1" sz="1300"/>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r">
                        <a:spcBef>
                          <a:spcPts val="0"/>
                        </a:spcBef>
                        <a:spcAft>
                          <a:spcPts val="0"/>
                        </a:spcAft>
                        <a:buNone/>
                      </a:pPr>
                      <a:r>
                        <a:rPr b="1" lang="en-US" sz="1300"/>
                        <a:t>Chitkara University</a:t>
                      </a:r>
                      <a:endParaRPr b="1" sz="1300"/>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US" sz="1300"/>
                        <a:t>2210990525 Kshitij Gulati</a:t>
                      </a:r>
                      <a:endParaRPr b="1" sz="1300"/>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r">
                        <a:spcBef>
                          <a:spcPts val="0"/>
                        </a:spcBef>
                        <a:spcAft>
                          <a:spcPts val="0"/>
                        </a:spcAft>
                        <a:buNone/>
                      </a:pPr>
                      <a:r>
                        <a:t/>
                      </a:r>
                      <a:endParaRPr b="1" sz="1300"/>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nvSpPr>
        <p:spPr>
          <a:xfrm>
            <a:off x="333000" y="0"/>
            <a:ext cx="2638500" cy="837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3200" u="none" cap="none" strike="noStrike">
                <a:solidFill>
                  <a:schemeClr val="lt1"/>
                </a:solidFill>
                <a:latin typeface="Times New Roman"/>
                <a:ea typeface="Times New Roman"/>
                <a:cs typeface="Times New Roman"/>
                <a:sym typeface="Times New Roman"/>
              </a:rPr>
              <a:t>Introduction</a:t>
            </a:r>
            <a:endParaRPr b="1" i="0" sz="3000" u="none" cap="none" strike="noStrike">
              <a:solidFill>
                <a:schemeClr val="lt1"/>
              </a:solidFill>
              <a:latin typeface="Times New Roman"/>
              <a:ea typeface="Times New Roman"/>
              <a:cs typeface="Times New Roman"/>
              <a:sym typeface="Times New Roman"/>
            </a:endParaRPr>
          </a:p>
        </p:txBody>
      </p:sp>
      <p:sp>
        <p:nvSpPr>
          <p:cNvPr id="91" name="Google Shape;91;p2"/>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
        <p:nvSpPr>
          <p:cNvPr id="92" name="Google Shape;92;p2"/>
          <p:cNvSpPr txBox="1"/>
          <p:nvPr/>
        </p:nvSpPr>
        <p:spPr>
          <a:xfrm>
            <a:off x="457350" y="1384750"/>
            <a:ext cx="8229300" cy="48387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Fake news has become a major challenge in the digital era, where misinformation spreads rapidly through social media platforms and influences public opinion, health decisions, and political systems. Due to the large volume of online content, manual fact-checking is not scalable, creating the need for automated detection systems using Natural Language Processing (NLP).</a:t>
            </a:r>
            <a:endParaRPr sz="2000">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In this study, special focus is given to transformer models under real-world academic constraints. DistilBERT is trained using CPU-only execution, limited dataset sizes, small batch size, and fewer epochs to analyze how effectively it performs in resource-constrained environments.</a:t>
            </a:r>
            <a:endParaRPr sz="2000">
              <a:latin typeface="Times New Roman"/>
              <a:ea typeface="Times New Roman"/>
              <a:cs typeface="Times New Roman"/>
              <a:sym typeface="Times New Roman"/>
            </a:endParaRPr>
          </a:p>
          <a:p>
            <a:pPr indent="0" lvl="0" marL="0" marR="0" rtl="0" algn="l">
              <a:lnSpc>
                <a:spcPct val="100000"/>
              </a:lnSpc>
              <a:spcBef>
                <a:spcPts val="1200"/>
              </a:spcBef>
              <a:spcAft>
                <a:spcPts val="0"/>
              </a:spcAft>
              <a:buNone/>
            </a:pPr>
            <a:r>
              <a:t/>
            </a:r>
            <a:endParaRPr sz="1900">
              <a:latin typeface="Calibri"/>
              <a:ea typeface="Calibri"/>
              <a:cs typeface="Calibri"/>
              <a:sym typeface="Calibri"/>
            </a:endParaRPr>
          </a:p>
          <a:p>
            <a:pPr indent="0" lvl="0" marL="0" marR="0" rtl="0" algn="l">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5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5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5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5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g3e680274e0a_0_9"/>
          <p:cNvSpPr txBox="1"/>
          <p:nvPr/>
        </p:nvSpPr>
        <p:spPr>
          <a:xfrm>
            <a:off x="339750" y="62925"/>
            <a:ext cx="57381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200">
                <a:solidFill>
                  <a:schemeClr val="lt1"/>
                </a:solidFill>
                <a:highlight>
                  <a:srgbClr val="FF3300"/>
                </a:highlight>
                <a:latin typeface="Times New Roman"/>
                <a:ea typeface="Times New Roman"/>
                <a:cs typeface="Times New Roman"/>
                <a:sym typeface="Times New Roman"/>
              </a:rPr>
              <a:t>Problem Statement</a:t>
            </a:r>
            <a:endParaRPr b="1" sz="3400">
              <a:solidFill>
                <a:schemeClr val="lt1"/>
              </a:solidFill>
              <a:highlight>
                <a:srgbClr val="FF3300"/>
              </a:highlight>
              <a:latin typeface="Times New Roman"/>
              <a:ea typeface="Times New Roman"/>
              <a:cs typeface="Times New Roman"/>
              <a:sym typeface="Times New Roman"/>
            </a:endParaRPr>
          </a:p>
        </p:txBody>
      </p:sp>
      <p:sp>
        <p:nvSpPr>
          <p:cNvPr id="99" name="Google Shape;99;g3e680274e0a_0_9"/>
          <p:cNvSpPr txBox="1"/>
          <p:nvPr/>
        </p:nvSpPr>
        <p:spPr>
          <a:xfrm>
            <a:off x="480600" y="1393675"/>
            <a:ext cx="8182800" cy="27705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lang="en-US" sz="2000">
                <a:latin typeface="Times New Roman"/>
                <a:ea typeface="Times New Roman"/>
                <a:cs typeface="Times New Roman"/>
                <a:sym typeface="Times New Roman"/>
              </a:rPr>
              <a:t>Most existing research in fake news detection assumes access to large datasets and high-end hardware such as GPUs. However, such resources are not always available in academic or real-world scenarios. This creates a gap between theoretical performance and practical usability.</a:t>
            </a:r>
            <a:endParaRPr sz="2000">
              <a:latin typeface="Times New Roman"/>
              <a:ea typeface="Times New Roman"/>
              <a:cs typeface="Times New Roman"/>
              <a:sym typeface="Times New Roman"/>
            </a:endParaRPr>
          </a:p>
          <a:p>
            <a:pPr indent="0" lvl="0" marL="0" rtl="0" algn="just">
              <a:lnSpc>
                <a:spcPct val="115000"/>
              </a:lnSpc>
              <a:spcBef>
                <a:spcPts val="1200"/>
              </a:spcBef>
              <a:spcAft>
                <a:spcPts val="1200"/>
              </a:spcAft>
              <a:buNone/>
            </a:pPr>
            <a:r>
              <a:rPr lang="en-US" sz="2000">
                <a:latin typeface="Times New Roman"/>
                <a:ea typeface="Times New Roman"/>
                <a:cs typeface="Times New Roman"/>
                <a:sym typeface="Times New Roman"/>
              </a:rPr>
              <a:t>There is a need to evaluate whether advanced models like transformers can still achieve high accuracy when trained with limited data and computational resources.</a:t>
            </a:r>
            <a:endParaRPr sz="20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g3e680274e0a_0_19"/>
          <p:cNvSpPr txBox="1"/>
          <p:nvPr/>
        </p:nvSpPr>
        <p:spPr>
          <a:xfrm>
            <a:off x="389525" y="81475"/>
            <a:ext cx="79482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200">
                <a:solidFill>
                  <a:schemeClr val="lt1"/>
                </a:solidFill>
                <a:latin typeface="Times New Roman"/>
                <a:ea typeface="Times New Roman"/>
                <a:cs typeface="Times New Roman"/>
                <a:sym typeface="Times New Roman"/>
              </a:rPr>
              <a:t>Solution</a:t>
            </a:r>
            <a:endParaRPr b="1" sz="5200">
              <a:solidFill>
                <a:schemeClr val="lt1"/>
              </a:solidFill>
              <a:latin typeface="Times New Roman"/>
              <a:ea typeface="Times New Roman"/>
              <a:cs typeface="Times New Roman"/>
              <a:sym typeface="Times New Roman"/>
            </a:endParaRPr>
          </a:p>
        </p:txBody>
      </p:sp>
      <p:sp>
        <p:nvSpPr>
          <p:cNvPr id="106" name="Google Shape;106;g3e680274e0a_0_19"/>
          <p:cNvSpPr txBox="1"/>
          <p:nvPr/>
        </p:nvSpPr>
        <p:spPr>
          <a:xfrm>
            <a:off x="466800" y="1379875"/>
            <a:ext cx="8210400" cy="48948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Clr>
                <a:schemeClr val="dk1"/>
              </a:buClr>
              <a:buSzPts val="1100"/>
              <a:buChar char="●"/>
            </a:pPr>
            <a:r>
              <a:rPr lang="en-US" sz="2000">
                <a:latin typeface="Times New Roman"/>
                <a:ea typeface="Times New Roman"/>
                <a:cs typeface="Times New Roman"/>
                <a:sym typeface="Times New Roman"/>
              </a:rPr>
              <a:t>Compare three generations of NLP models:</a:t>
            </a:r>
            <a:endParaRPr sz="2000">
              <a:latin typeface="Times New Roman"/>
              <a:ea typeface="Times New Roman"/>
              <a:cs typeface="Times New Roman"/>
              <a:sym typeface="Times New Roman"/>
            </a:endParaRPr>
          </a:p>
          <a:p>
            <a:pPr indent="-298450" lvl="1" marL="914400" rtl="0" algn="l">
              <a:lnSpc>
                <a:spcPct val="115000"/>
              </a:lnSpc>
              <a:spcBef>
                <a:spcPts val="0"/>
              </a:spcBef>
              <a:spcAft>
                <a:spcPts val="0"/>
              </a:spcAft>
              <a:buClr>
                <a:schemeClr val="dk1"/>
              </a:buClr>
              <a:buSzPts val="1100"/>
              <a:buChar char="○"/>
            </a:pPr>
            <a:r>
              <a:rPr lang="en-US" sz="2000">
                <a:latin typeface="Times New Roman"/>
                <a:ea typeface="Times New Roman"/>
                <a:cs typeface="Times New Roman"/>
                <a:sym typeface="Times New Roman"/>
              </a:rPr>
              <a:t>Classical Machine Learning (LR, SVM, Random Forest)</a:t>
            </a:r>
            <a:endParaRPr sz="2000">
              <a:latin typeface="Times New Roman"/>
              <a:ea typeface="Times New Roman"/>
              <a:cs typeface="Times New Roman"/>
              <a:sym typeface="Times New Roman"/>
            </a:endParaRPr>
          </a:p>
          <a:p>
            <a:pPr indent="-298450" lvl="1" marL="914400" rtl="0" algn="l">
              <a:lnSpc>
                <a:spcPct val="115000"/>
              </a:lnSpc>
              <a:spcBef>
                <a:spcPts val="0"/>
              </a:spcBef>
              <a:spcAft>
                <a:spcPts val="0"/>
              </a:spcAft>
              <a:buClr>
                <a:schemeClr val="dk1"/>
              </a:buClr>
              <a:buSzPts val="1100"/>
              <a:buChar char="○"/>
            </a:pPr>
            <a:r>
              <a:rPr lang="en-US" sz="2000">
                <a:latin typeface="Times New Roman"/>
                <a:ea typeface="Times New Roman"/>
                <a:cs typeface="Times New Roman"/>
                <a:sym typeface="Times New Roman"/>
              </a:rPr>
              <a:t>Deep Learning (LSTM)</a:t>
            </a:r>
            <a:endParaRPr sz="2000">
              <a:latin typeface="Times New Roman"/>
              <a:ea typeface="Times New Roman"/>
              <a:cs typeface="Times New Roman"/>
              <a:sym typeface="Times New Roman"/>
            </a:endParaRPr>
          </a:p>
          <a:p>
            <a:pPr indent="-298450" lvl="1" marL="914400" rtl="0" algn="l">
              <a:lnSpc>
                <a:spcPct val="115000"/>
              </a:lnSpc>
              <a:spcBef>
                <a:spcPts val="0"/>
              </a:spcBef>
              <a:spcAft>
                <a:spcPts val="0"/>
              </a:spcAft>
              <a:buClr>
                <a:schemeClr val="dk1"/>
              </a:buClr>
              <a:buSzPts val="1100"/>
              <a:buChar char="○"/>
            </a:pPr>
            <a:r>
              <a:rPr lang="en-US" sz="2000">
                <a:latin typeface="Times New Roman"/>
                <a:ea typeface="Times New Roman"/>
                <a:cs typeface="Times New Roman"/>
                <a:sym typeface="Times New Roman"/>
              </a:rPr>
              <a:t>Transformer (DistilBERT)</a:t>
            </a:r>
            <a:endParaRPr sz="2000">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Char char="●"/>
            </a:pPr>
            <a:r>
              <a:rPr lang="en-US" sz="2000">
                <a:latin typeface="Times New Roman"/>
                <a:ea typeface="Times New Roman"/>
                <a:cs typeface="Times New Roman"/>
                <a:sym typeface="Times New Roman"/>
              </a:rPr>
              <a:t>Use WELFake dataset for consistent evaluation</a:t>
            </a:r>
            <a:endParaRPr sz="2000">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Char char="●"/>
            </a:pPr>
            <a:r>
              <a:rPr lang="en-US" sz="2000">
                <a:latin typeface="Times New Roman"/>
                <a:ea typeface="Times New Roman"/>
                <a:cs typeface="Times New Roman"/>
                <a:sym typeface="Times New Roman"/>
              </a:rPr>
              <a:t>Train all models under same conditions for fair comparison</a:t>
            </a:r>
            <a:endParaRPr sz="2000">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Char char="●"/>
            </a:pPr>
            <a:r>
              <a:rPr lang="en-US" sz="2000">
                <a:latin typeface="Times New Roman"/>
                <a:ea typeface="Times New Roman"/>
                <a:cs typeface="Times New Roman"/>
                <a:sym typeface="Times New Roman"/>
              </a:rPr>
              <a:t>Focus on DistilBERT scaling:</a:t>
            </a:r>
            <a:endParaRPr sz="2000">
              <a:latin typeface="Times New Roman"/>
              <a:ea typeface="Times New Roman"/>
              <a:cs typeface="Times New Roman"/>
              <a:sym typeface="Times New Roman"/>
            </a:endParaRPr>
          </a:p>
          <a:p>
            <a:pPr indent="-298450" lvl="1" marL="914400" rtl="0" algn="l">
              <a:lnSpc>
                <a:spcPct val="115000"/>
              </a:lnSpc>
              <a:spcBef>
                <a:spcPts val="0"/>
              </a:spcBef>
              <a:spcAft>
                <a:spcPts val="0"/>
              </a:spcAft>
              <a:buClr>
                <a:schemeClr val="dk1"/>
              </a:buClr>
              <a:buSzPts val="1100"/>
              <a:buChar char="○"/>
            </a:pPr>
            <a:r>
              <a:rPr lang="en-US" sz="2000">
                <a:latin typeface="Times New Roman"/>
                <a:ea typeface="Times New Roman"/>
                <a:cs typeface="Times New Roman"/>
                <a:sym typeface="Times New Roman"/>
              </a:rPr>
              <a:t>Train on 1000, 3000, and 5000 samples</a:t>
            </a:r>
            <a:endParaRPr sz="2000">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Char char="●"/>
            </a:pPr>
            <a:r>
              <a:rPr lang="en-US" sz="2000">
                <a:latin typeface="Times New Roman"/>
                <a:ea typeface="Times New Roman"/>
                <a:cs typeface="Times New Roman"/>
                <a:sym typeface="Times New Roman"/>
              </a:rPr>
              <a:t>Apply CPU-only constraints to simulate real-world academic setup</a:t>
            </a:r>
            <a:endParaRPr sz="2000">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Char char="●"/>
            </a:pPr>
            <a:r>
              <a:rPr lang="en-US" sz="2000">
                <a:latin typeface="Times New Roman"/>
                <a:ea typeface="Times New Roman"/>
                <a:cs typeface="Times New Roman"/>
                <a:sym typeface="Times New Roman"/>
              </a:rPr>
              <a:t>Analyze:</a:t>
            </a:r>
            <a:endParaRPr sz="2000">
              <a:latin typeface="Times New Roman"/>
              <a:ea typeface="Times New Roman"/>
              <a:cs typeface="Times New Roman"/>
              <a:sym typeface="Times New Roman"/>
            </a:endParaRPr>
          </a:p>
          <a:p>
            <a:pPr indent="-298450" lvl="1" marL="914400" rtl="0" algn="l">
              <a:lnSpc>
                <a:spcPct val="115000"/>
              </a:lnSpc>
              <a:spcBef>
                <a:spcPts val="0"/>
              </a:spcBef>
              <a:spcAft>
                <a:spcPts val="0"/>
              </a:spcAft>
              <a:buClr>
                <a:schemeClr val="dk1"/>
              </a:buClr>
              <a:buSzPts val="1100"/>
              <a:buChar char="○"/>
            </a:pPr>
            <a:r>
              <a:rPr lang="en-US" sz="2000">
                <a:latin typeface="Times New Roman"/>
                <a:ea typeface="Times New Roman"/>
                <a:cs typeface="Times New Roman"/>
                <a:sym typeface="Times New Roman"/>
              </a:rPr>
              <a:t>Performance vs data size</a:t>
            </a:r>
            <a:endParaRPr sz="2000">
              <a:latin typeface="Times New Roman"/>
              <a:ea typeface="Times New Roman"/>
              <a:cs typeface="Times New Roman"/>
              <a:sym typeface="Times New Roman"/>
            </a:endParaRPr>
          </a:p>
          <a:p>
            <a:pPr indent="-298450" lvl="1" marL="914400" rtl="0" algn="l">
              <a:lnSpc>
                <a:spcPct val="115000"/>
              </a:lnSpc>
              <a:spcBef>
                <a:spcPts val="0"/>
              </a:spcBef>
              <a:spcAft>
                <a:spcPts val="0"/>
              </a:spcAft>
              <a:buClr>
                <a:schemeClr val="dk1"/>
              </a:buClr>
              <a:buSzPts val="1100"/>
              <a:buChar char="○"/>
            </a:pPr>
            <a:r>
              <a:rPr lang="en-US" sz="2000">
                <a:latin typeface="Times New Roman"/>
                <a:ea typeface="Times New Roman"/>
                <a:cs typeface="Times New Roman"/>
                <a:sym typeface="Times New Roman"/>
              </a:rPr>
              <a:t>Efficiency vs resource usage</a:t>
            </a:r>
            <a:endParaRPr sz="2000">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t/>
            </a:r>
            <a:endParaRPr sz="20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g3e680274e0a_0_30"/>
          <p:cNvSpPr txBox="1"/>
          <p:nvPr/>
        </p:nvSpPr>
        <p:spPr>
          <a:xfrm>
            <a:off x="415275" y="138425"/>
            <a:ext cx="57885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200">
                <a:solidFill>
                  <a:schemeClr val="lt1"/>
                </a:solidFill>
                <a:latin typeface="Times New Roman"/>
                <a:ea typeface="Times New Roman"/>
                <a:cs typeface="Times New Roman"/>
                <a:sym typeface="Times New Roman"/>
              </a:rPr>
              <a:t>Tools and Technologies Used</a:t>
            </a:r>
            <a:endParaRPr b="1" sz="3400">
              <a:solidFill>
                <a:schemeClr val="lt1"/>
              </a:solidFill>
              <a:latin typeface="Times New Roman"/>
              <a:ea typeface="Times New Roman"/>
              <a:cs typeface="Times New Roman"/>
              <a:sym typeface="Times New Roman"/>
            </a:endParaRPr>
          </a:p>
        </p:txBody>
      </p:sp>
      <p:sp>
        <p:nvSpPr>
          <p:cNvPr id="113" name="Google Shape;113;g3e680274e0a_0_30"/>
          <p:cNvSpPr txBox="1"/>
          <p:nvPr/>
        </p:nvSpPr>
        <p:spPr>
          <a:xfrm>
            <a:off x="446850" y="1366050"/>
            <a:ext cx="8250300" cy="5002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2000">
                <a:solidFill>
                  <a:schemeClr val="dk1"/>
                </a:solidFill>
                <a:latin typeface="Times New Roman"/>
                <a:ea typeface="Times New Roman"/>
                <a:cs typeface="Times New Roman"/>
                <a:sym typeface="Times New Roman"/>
              </a:rPr>
              <a:t>Programming Language:</a:t>
            </a:r>
            <a:r>
              <a:rPr lang="en-US" sz="2000">
                <a:solidFill>
                  <a:schemeClr val="dk1"/>
                </a:solidFill>
                <a:latin typeface="Times New Roman"/>
                <a:ea typeface="Times New Roman"/>
                <a:cs typeface="Times New Roman"/>
                <a:sym typeface="Times New Roman"/>
              </a:rPr>
              <a:t> Python</a:t>
            </a:r>
            <a:endParaRPr sz="20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US" sz="2000">
                <a:solidFill>
                  <a:schemeClr val="dk1"/>
                </a:solidFill>
                <a:latin typeface="Times New Roman"/>
                <a:ea typeface="Times New Roman"/>
                <a:cs typeface="Times New Roman"/>
                <a:sym typeface="Times New Roman"/>
              </a:rPr>
              <a:t>Platform:</a:t>
            </a:r>
            <a:r>
              <a:rPr lang="en-US" sz="2000">
                <a:solidFill>
                  <a:schemeClr val="dk1"/>
                </a:solidFill>
                <a:latin typeface="Times New Roman"/>
                <a:ea typeface="Times New Roman"/>
                <a:cs typeface="Times New Roman"/>
                <a:sym typeface="Times New Roman"/>
              </a:rPr>
              <a:t> Google Colab (CPU-only execution)</a:t>
            </a:r>
            <a:endParaRPr sz="20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US" sz="2000">
                <a:solidFill>
                  <a:schemeClr val="dk1"/>
                </a:solidFill>
                <a:latin typeface="Times New Roman"/>
                <a:ea typeface="Times New Roman"/>
                <a:cs typeface="Times New Roman"/>
                <a:sym typeface="Times New Roman"/>
              </a:rPr>
              <a:t>Libraries Used:</a:t>
            </a:r>
            <a:endParaRPr b="1" sz="2000">
              <a:solidFill>
                <a:schemeClr val="dk1"/>
              </a:solidFill>
              <a:latin typeface="Times New Roman"/>
              <a:ea typeface="Times New Roman"/>
              <a:cs typeface="Times New Roman"/>
              <a:sym typeface="Times New Roman"/>
            </a:endParaRPr>
          </a:p>
          <a:p>
            <a:pPr indent="-355600" lvl="0" marL="457200" rtl="0" algn="l">
              <a:lnSpc>
                <a:spcPct val="115000"/>
              </a:lnSpc>
              <a:spcBef>
                <a:spcPts val="120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NumPy → numerical operations</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Pandas → data preprocessing and manipulation</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Scikit-learn → classical ML models and TF-IDF</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TensorFlow/Keras → LSTM model implementation</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Hugging Face Transformers → DistilBERT fine-tuning</a:t>
            </a:r>
            <a:endParaRPr sz="20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sz="2000">
                <a:solidFill>
                  <a:schemeClr val="dk1"/>
                </a:solidFill>
                <a:latin typeface="Times New Roman"/>
                <a:ea typeface="Times New Roman"/>
                <a:cs typeface="Times New Roman"/>
                <a:sym typeface="Times New Roman"/>
              </a:rPr>
              <a:t>Hardware Constraints:</a:t>
            </a:r>
            <a:endParaRPr b="1" sz="2000">
              <a:solidFill>
                <a:schemeClr val="dk1"/>
              </a:solidFill>
              <a:latin typeface="Times New Roman"/>
              <a:ea typeface="Times New Roman"/>
              <a:cs typeface="Times New Roman"/>
              <a:sym typeface="Times New Roman"/>
            </a:endParaRPr>
          </a:p>
          <a:p>
            <a:pPr indent="-355600" lvl="0" marL="457200" rtl="0" algn="l">
              <a:lnSpc>
                <a:spcPct val="115000"/>
              </a:lnSpc>
              <a:spcBef>
                <a:spcPts val="120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CPU only</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~12 GB RAM</a:t>
            </a:r>
            <a:endParaRPr sz="20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Tools ensured efficient model training and evaluation under limited resources</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g3e680274e0a_0_40"/>
          <p:cNvSpPr txBox="1"/>
          <p:nvPr/>
        </p:nvSpPr>
        <p:spPr>
          <a:xfrm>
            <a:off x="453025" y="88075"/>
            <a:ext cx="30000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200">
                <a:solidFill>
                  <a:schemeClr val="lt1"/>
                </a:solidFill>
                <a:latin typeface="Times New Roman"/>
                <a:ea typeface="Times New Roman"/>
                <a:cs typeface="Times New Roman"/>
                <a:sym typeface="Times New Roman"/>
              </a:rPr>
              <a:t>Results</a:t>
            </a:r>
            <a:endParaRPr b="1" sz="3400">
              <a:solidFill>
                <a:schemeClr val="lt1"/>
              </a:solidFill>
              <a:latin typeface="Times New Roman"/>
              <a:ea typeface="Times New Roman"/>
              <a:cs typeface="Times New Roman"/>
              <a:sym typeface="Times New Roman"/>
            </a:endParaRPr>
          </a:p>
        </p:txBody>
      </p:sp>
      <p:sp>
        <p:nvSpPr>
          <p:cNvPr id="120" name="Google Shape;120;g3e680274e0a_0_40"/>
          <p:cNvSpPr txBox="1"/>
          <p:nvPr/>
        </p:nvSpPr>
        <p:spPr>
          <a:xfrm>
            <a:off x="582875" y="1145325"/>
            <a:ext cx="8199000" cy="5818200"/>
          </a:xfrm>
          <a:prstGeom prst="rect">
            <a:avLst/>
          </a:prstGeom>
          <a:noFill/>
          <a:ln>
            <a:noFill/>
          </a:ln>
        </p:spPr>
        <p:txBody>
          <a:bodyPr anchorCtr="0" anchor="t" bIns="91425" lIns="91425" spcFirstLastPara="1" rIns="91425" wrap="square" tIns="91425">
            <a:spAutoFit/>
          </a:bodyPr>
          <a:lstStyle/>
          <a:p>
            <a:pPr indent="-355600" lvl="0" marL="457200" rtl="0" algn="just">
              <a:lnSpc>
                <a:spcPct val="115000"/>
              </a:lnSpc>
              <a:spcBef>
                <a:spcPts val="120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All models achieved high performance (above 95% accuracy)</a:t>
            </a:r>
            <a:endParaRPr sz="2000">
              <a:solidFill>
                <a:schemeClr val="dk1"/>
              </a:solidFill>
              <a:latin typeface="Times New Roman"/>
              <a:ea typeface="Times New Roman"/>
              <a:cs typeface="Times New Roman"/>
              <a:sym typeface="Times New Roman"/>
            </a:endParaRPr>
          </a:p>
          <a:p>
            <a:pPr indent="-355600" lvl="0" marL="457200" rtl="0" algn="just">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LSTM achieved highest accuracy:</a:t>
            </a:r>
            <a:endParaRPr sz="2000">
              <a:solidFill>
                <a:schemeClr val="dk1"/>
              </a:solidFill>
              <a:latin typeface="Times New Roman"/>
              <a:ea typeface="Times New Roman"/>
              <a:cs typeface="Times New Roman"/>
              <a:sym typeface="Times New Roman"/>
            </a:endParaRPr>
          </a:p>
          <a:p>
            <a:pPr indent="-355600" lvl="1" marL="914400" rtl="0" algn="just">
              <a:lnSpc>
                <a:spcPct val="115000"/>
              </a:lnSpc>
              <a:spcBef>
                <a:spcPts val="0"/>
              </a:spcBef>
              <a:spcAft>
                <a:spcPts val="0"/>
              </a:spcAft>
              <a:buClr>
                <a:schemeClr val="dk1"/>
              </a:buClr>
              <a:buSzPts val="2000"/>
              <a:buFont typeface="Times New Roman"/>
              <a:buChar char="○"/>
            </a:pPr>
            <a:r>
              <a:rPr b="1" lang="en-US" sz="2000">
                <a:solidFill>
                  <a:schemeClr val="dk1"/>
                </a:solidFill>
                <a:latin typeface="Times New Roman"/>
                <a:ea typeface="Times New Roman"/>
                <a:cs typeface="Times New Roman"/>
                <a:sym typeface="Times New Roman"/>
              </a:rPr>
              <a:t>96.55%</a:t>
            </a:r>
            <a:endParaRPr b="1" sz="2000">
              <a:solidFill>
                <a:schemeClr val="dk1"/>
              </a:solidFill>
              <a:latin typeface="Times New Roman"/>
              <a:ea typeface="Times New Roman"/>
              <a:cs typeface="Times New Roman"/>
              <a:sym typeface="Times New Roman"/>
            </a:endParaRPr>
          </a:p>
          <a:p>
            <a:pPr indent="-355600" lvl="0" marL="457200" rtl="0" algn="just">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Classical models also performed strongly:</a:t>
            </a:r>
            <a:endParaRPr sz="2000">
              <a:solidFill>
                <a:schemeClr val="dk1"/>
              </a:solidFill>
              <a:latin typeface="Times New Roman"/>
              <a:ea typeface="Times New Roman"/>
              <a:cs typeface="Times New Roman"/>
              <a:sym typeface="Times New Roman"/>
            </a:endParaRPr>
          </a:p>
          <a:p>
            <a:pPr indent="-355600" lvl="1" marL="914400" rtl="0" algn="just">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SVM → 96.46%</a:t>
            </a:r>
            <a:endParaRPr sz="2000">
              <a:solidFill>
                <a:schemeClr val="dk1"/>
              </a:solidFill>
              <a:latin typeface="Times New Roman"/>
              <a:ea typeface="Times New Roman"/>
              <a:cs typeface="Times New Roman"/>
              <a:sym typeface="Times New Roman"/>
            </a:endParaRPr>
          </a:p>
          <a:p>
            <a:pPr indent="-355600" lvl="1" marL="914400" rtl="0" algn="just">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Random Forest → 96.23%</a:t>
            </a:r>
            <a:endParaRPr sz="2000">
              <a:solidFill>
                <a:schemeClr val="dk1"/>
              </a:solidFill>
              <a:latin typeface="Times New Roman"/>
              <a:ea typeface="Times New Roman"/>
              <a:cs typeface="Times New Roman"/>
              <a:sym typeface="Times New Roman"/>
            </a:endParaRPr>
          </a:p>
          <a:p>
            <a:pPr indent="-355600" lvl="1" marL="914400" rtl="0" algn="just">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Logistic Regression → 95.58%</a:t>
            </a:r>
            <a:endParaRPr sz="2000">
              <a:solidFill>
                <a:schemeClr val="dk1"/>
              </a:solidFill>
              <a:latin typeface="Times New Roman"/>
              <a:ea typeface="Times New Roman"/>
              <a:cs typeface="Times New Roman"/>
              <a:sym typeface="Times New Roman"/>
            </a:endParaRPr>
          </a:p>
          <a:p>
            <a:pPr indent="-355600" lvl="0" marL="457200" rtl="0" algn="just">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Indicates dataset is well-structured and balanced</a:t>
            </a:r>
            <a:endParaRPr sz="2000">
              <a:solidFill>
                <a:schemeClr val="dk1"/>
              </a:solidFill>
              <a:latin typeface="Times New Roman"/>
              <a:ea typeface="Times New Roman"/>
              <a:cs typeface="Times New Roman"/>
              <a:sym typeface="Times New Roman"/>
            </a:endParaRPr>
          </a:p>
          <a:p>
            <a:pPr indent="-355600" lvl="0" marL="457200" rtl="0" algn="just">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Even simple models perform well with proper preprocessing</a:t>
            </a:r>
            <a:endParaRPr b="1" sz="2000">
              <a:solidFill>
                <a:schemeClr val="dk1"/>
              </a:solidFill>
              <a:latin typeface="Times New Roman"/>
              <a:ea typeface="Times New Roman"/>
              <a:cs typeface="Times New Roman"/>
              <a:sym typeface="Times New Roman"/>
            </a:endParaRPr>
          </a:p>
          <a:p>
            <a:pPr indent="-355600" lvl="0" marL="457200" rtl="0" algn="just">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DistilBERT performance under limited data:</a:t>
            </a:r>
            <a:endParaRPr sz="2000">
              <a:solidFill>
                <a:schemeClr val="dk1"/>
              </a:solidFill>
              <a:latin typeface="Times New Roman"/>
              <a:ea typeface="Times New Roman"/>
              <a:cs typeface="Times New Roman"/>
              <a:sym typeface="Times New Roman"/>
            </a:endParaRPr>
          </a:p>
          <a:p>
            <a:pPr indent="-355600" lvl="1" marL="914400" rtl="0" algn="just">
              <a:lnSpc>
                <a:spcPct val="115000"/>
              </a:lnSpc>
              <a:spcBef>
                <a:spcPts val="0"/>
              </a:spcBef>
              <a:spcAft>
                <a:spcPts val="0"/>
              </a:spcAft>
              <a:buClr>
                <a:schemeClr val="dk1"/>
              </a:buClr>
              <a:buSzPts val="2000"/>
              <a:buChar char="○"/>
            </a:pPr>
            <a:r>
              <a:rPr lang="en-US" sz="2000">
                <a:solidFill>
                  <a:schemeClr val="dk1"/>
                </a:solidFill>
                <a:latin typeface="Times New Roman"/>
                <a:ea typeface="Times New Roman"/>
                <a:cs typeface="Times New Roman"/>
                <a:sym typeface="Times New Roman"/>
              </a:rPr>
              <a:t>1000 samples → </a:t>
            </a:r>
            <a:r>
              <a:rPr b="1" lang="en-US" sz="2000">
                <a:solidFill>
                  <a:schemeClr val="dk1"/>
                </a:solidFill>
                <a:latin typeface="Times New Roman"/>
                <a:ea typeface="Times New Roman"/>
                <a:cs typeface="Times New Roman"/>
                <a:sym typeface="Times New Roman"/>
              </a:rPr>
              <a:t>94.41%</a:t>
            </a:r>
            <a:endParaRPr b="1" sz="2000">
              <a:solidFill>
                <a:schemeClr val="dk1"/>
              </a:solidFill>
              <a:latin typeface="Times New Roman"/>
              <a:ea typeface="Times New Roman"/>
              <a:cs typeface="Times New Roman"/>
              <a:sym typeface="Times New Roman"/>
            </a:endParaRPr>
          </a:p>
          <a:p>
            <a:pPr indent="-355600" lvl="1" marL="914400" rtl="0" algn="just">
              <a:lnSpc>
                <a:spcPct val="115000"/>
              </a:lnSpc>
              <a:spcBef>
                <a:spcPts val="0"/>
              </a:spcBef>
              <a:spcAft>
                <a:spcPts val="0"/>
              </a:spcAft>
              <a:buClr>
                <a:schemeClr val="dk1"/>
              </a:buClr>
              <a:buSzPts val="2000"/>
              <a:buChar char="○"/>
            </a:pPr>
            <a:r>
              <a:rPr lang="en-US" sz="2000">
                <a:solidFill>
                  <a:schemeClr val="dk1"/>
                </a:solidFill>
                <a:latin typeface="Times New Roman"/>
                <a:ea typeface="Times New Roman"/>
                <a:cs typeface="Times New Roman"/>
                <a:sym typeface="Times New Roman"/>
              </a:rPr>
              <a:t>3000 samples → </a:t>
            </a:r>
            <a:r>
              <a:rPr b="1" lang="en-US" sz="2000">
                <a:solidFill>
                  <a:schemeClr val="dk1"/>
                </a:solidFill>
                <a:latin typeface="Times New Roman"/>
                <a:ea typeface="Times New Roman"/>
                <a:cs typeface="Times New Roman"/>
                <a:sym typeface="Times New Roman"/>
              </a:rPr>
              <a:t>96.00%</a:t>
            </a:r>
            <a:endParaRPr b="1" sz="2000">
              <a:solidFill>
                <a:schemeClr val="dk1"/>
              </a:solidFill>
              <a:latin typeface="Times New Roman"/>
              <a:ea typeface="Times New Roman"/>
              <a:cs typeface="Times New Roman"/>
              <a:sym typeface="Times New Roman"/>
            </a:endParaRPr>
          </a:p>
          <a:p>
            <a:pPr indent="-355600" lvl="1" marL="914400" rtl="0" algn="just">
              <a:lnSpc>
                <a:spcPct val="115000"/>
              </a:lnSpc>
              <a:spcBef>
                <a:spcPts val="0"/>
              </a:spcBef>
              <a:spcAft>
                <a:spcPts val="0"/>
              </a:spcAft>
              <a:buClr>
                <a:schemeClr val="dk1"/>
              </a:buClr>
              <a:buSzPts val="2000"/>
              <a:buChar char="○"/>
            </a:pPr>
            <a:r>
              <a:rPr lang="en-US" sz="2000">
                <a:solidFill>
                  <a:schemeClr val="dk1"/>
                </a:solidFill>
                <a:latin typeface="Times New Roman"/>
                <a:ea typeface="Times New Roman"/>
                <a:cs typeface="Times New Roman"/>
                <a:sym typeface="Times New Roman"/>
              </a:rPr>
              <a:t>5000 samples → </a:t>
            </a:r>
            <a:r>
              <a:rPr b="1" lang="en-US" sz="2000">
                <a:solidFill>
                  <a:schemeClr val="dk1"/>
                </a:solidFill>
                <a:latin typeface="Times New Roman"/>
                <a:ea typeface="Times New Roman"/>
                <a:cs typeface="Times New Roman"/>
                <a:sym typeface="Times New Roman"/>
              </a:rPr>
              <a:t>96.07%</a:t>
            </a:r>
            <a:endParaRPr b="1" sz="2000">
              <a:solidFill>
                <a:schemeClr val="dk1"/>
              </a:solidFill>
              <a:latin typeface="Times New Roman"/>
              <a:ea typeface="Times New Roman"/>
              <a:cs typeface="Times New Roman"/>
              <a:sym typeface="Times New Roman"/>
            </a:endParaRPr>
          </a:p>
          <a:p>
            <a:pPr indent="-355600" lvl="0" marL="457200" rtl="0" algn="just">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Significant improvement observed from 1000 → 3000 samples</a:t>
            </a:r>
            <a:endParaRPr sz="2000">
              <a:solidFill>
                <a:schemeClr val="dk1"/>
              </a:solidFill>
              <a:latin typeface="Times New Roman"/>
              <a:ea typeface="Times New Roman"/>
              <a:cs typeface="Times New Roman"/>
              <a:sym typeface="Times New Roman"/>
            </a:endParaRPr>
          </a:p>
          <a:p>
            <a:pPr indent="-355600" lvl="0" marL="457200" rtl="0" algn="just">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Minimal improvement beyond 3000 samples</a:t>
            </a:r>
            <a:endParaRPr sz="20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sz="11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e680274e0a_0_51"/>
          <p:cNvSpPr txBox="1"/>
          <p:nvPr/>
        </p:nvSpPr>
        <p:spPr>
          <a:xfrm>
            <a:off x="453025" y="88075"/>
            <a:ext cx="30000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200">
                <a:solidFill>
                  <a:schemeClr val="lt1"/>
                </a:solidFill>
                <a:latin typeface="Times New Roman"/>
                <a:ea typeface="Times New Roman"/>
                <a:cs typeface="Times New Roman"/>
                <a:sym typeface="Times New Roman"/>
              </a:rPr>
              <a:t>Results</a:t>
            </a:r>
            <a:endParaRPr b="1" sz="3400">
              <a:solidFill>
                <a:schemeClr val="lt1"/>
              </a:solidFill>
              <a:latin typeface="Times New Roman"/>
              <a:ea typeface="Times New Roman"/>
              <a:cs typeface="Times New Roman"/>
              <a:sym typeface="Times New Roman"/>
            </a:endParaRPr>
          </a:p>
        </p:txBody>
      </p:sp>
      <p:sp>
        <p:nvSpPr>
          <p:cNvPr id="127" name="Google Shape;127;g3e680274e0a_0_51"/>
          <p:cNvSpPr txBox="1"/>
          <p:nvPr/>
        </p:nvSpPr>
        <p:spPr>
          <a:xfrm>
            <a:off x="472500" y="619950"/>
            <a:ext cx="8199000" cy="56181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t/>
            </a:r>
            <a:endParaRPr sz="2000">
              <a:solidFill>
                <a:schemeClr val="dk1"/>
              </a:solidFill>
              <a:latin typeface="Times New Roman"/>
              <a:ea typeface="Times New Roman"/>
              <a:cs typeface="Times New Roman"/>
              <a:sym typeface="Times New Roman"/>
            </a:endParaRPr>
          </a:p>
          <a:p>
            <a:pPr indent="-355600" lvl="0" marL="457200" rtl="0" algn="just">
              <a:lnSpc>
                <a:spcPct val="115000"/>
              </a:lnSpc>
              <a:spcBef>
                <a:spcPts val="120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Indicates:</a:t>
            </a:r>
            <a:endParaRPr sz="2000">
              <a:solidFill>
                <a:schemeClr val="dk1"/>
              </a:solidFill>
              <a:latin typeface="Times New Roman"/>
              <a:ea typeface="Times New Roman"/>
              <a:cs typeface="Times New Roman"/>
              <a:sym typeface="Times New Roman"/>
            </a:endParaRPr>
          </a:p>
          <a:p>
            <a:pPr indent="-355600" lvl="1" marL="914400" rtl="0" algn="just">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Early learning is strong</a:t>
            </a:r>
            <a:endParaRPr sz="2000">
              <a:solidFill>
                <a:schemeClr val="dk1"/>
              </a:solidFill>
              <a:latin typeface="Times New Roman"/>
              <a:ea typeface="Times New Roman"/>
              <a:cs typeface="Times New Roman"/>
              <a:sym typeface="Times New Roman"/>
            </a:endParaRPr>
          </a:p>
          <a:p>
            <a:pPr indent="-355600" lvl="1" marL="914400" rtl="0" algn="just">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Later gains are marginal</a:t>
            </a:r>
            <a:endParaRPr b="1" sz="2000">
              <a:solidFill>
                <a:schemeClr val="dk1"/>
              </a:solidFill>
              <a:latin typeface="Times New Roman"/>
              <a:ea typeface="Times New Roman"/>
              <a:cs typeface="Times New Roman"/>
              <a:sym typeface="Times New Roman"/>
            </a:endParaRPr>
          </a:p>
          <a:p>
            <a:pPr indent="-355600" lvl="0" marL="457200" rtl="0" algn="just">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DistilBERT trained on 3000 samples (~5.2% of dataset) performs close to full-data models</a:t>
            </a:r>
            <a:endParaRPr sz="2000">
              <a:solidFill>
                <a:schemeClr val="dk1"/>
              </a:solidFill>
              <a:latin typeface="Times New Roman"/>
              <a:ea typeface="Times New Roman"/>
              <a:cs typeface="Times New Roman"/>
              <a:sym typeface="Times New Roman"/>
            </a:endParaRPr>
          </a:p>
          <a:p>
            <a:pPr indent="-355600" lvl="0" marL="457200" rtl="0" algn="just">
              <a:lnSpc>
                <a:spcPct val="115000"/>
              </a:lnSpc>
              <a:spcBef>
                <a:spcPts val="0"/>
              </a:spcBef>
              <a:spcAft>
                <a:spcPts val="0"/>
              </a:spcAft>
              <a:buClr>
                <a:schemeClr val="dk1"/>
              </a:buClr>
              <a:buSzPts val="2000"/>
              <a:buChar char="●"/>
            </a:pPr>
            <a:r>
              <a:rPr lang="en-US" sz="2000">
                <a:solidFill>
                  <a:schemeClr val="dk1"/>
                </a:solidFill>
                <a:latin typeface="Times New Roman"/>
                <a:ea typeface="Times New Roman"/>
                <a:cs typeface="Times New Roman"/>
                <a:sym typeface="Times New Roman"/>
              </a:rPr>
              <a:t>Shows strong </a:t>
            </a:r>
            <a:r>
              <a:rPr b="1" lang="en-US" sz="2000">
                <a:solidFill>
                  <a:schemeClr val="dk1"/>
                </a:solidFill>
                <a:latin typeface="Times New Roman"/>
                <a:ea typeface="Times New Roman"/>
                <a:cs typeface="Times New Roman"/>
                <a:sym typeface="Times New Roman"/>
              </a:rPr>
              <a:t>data efficiency of transformer models</a:t>
            </a:r>
            <a:endParaRPr b="1" sz="2000">
              <a:solidFill>
                <a:schemeClr val="dk1"/>
              </a:solidFill>
              <a:latin typeface="Times New Roman"/>
              <a:ea typeface="Times New Roman"/>
              <a:cs typeface="Times New Roman"/>
              <a:sym typeface="Times New Roman"/>
            </a:endParaRPr>
          </a:p>
          <a:p>
            <a:pPr indent="-355600" lvl="0" marL="457200" rtl="0" algn="just">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Pretrained knowledge reduces dependency on large datasets</a:t>
            </a:r>
            <a:endParaRPr sz="2000">
              <a:solidFill>
                <a:schemeClr val="dk1"/>
              </a:solidFill>
              <a:latin typeface="Times New Roman"/>
              <a:ea typeface="Times New Roman"/>
              <a:cs typeface="Times New Roman"/>
              <a:sym typeface="Times New Roman"/>
            </a:endParaRPr>
          </a:p>
          <a:p>
            <a:pPr indent="-355600" lvl="0" marL="457200" rtl="0" algn="just">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Classical models rely heavily on feature engineering</a:t>
            </a:r>
            <a:endParaRPr sz="2000">
              <a:solidFill>
                <a:schemeClr val="dk1"/>
              </a:solidFill>
              <a:latin typeface="Times New Roman"/>
              <a:ea typeface="Times New Roman"/>
              <a:cs typeface="Times New Roman"/>
              <a:sym typeface="Times New Roman"/>
            </a:endParaRPr>
          </a:p>
          <a:p>
            <a:pPr indent="-355600" lvl="0" marL="457200" rtl="0" algn="just">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LSTM improves contextual understanding but requires more computation</a:t>
            </a:r>
            <a:endParaRPr sz="2000">
              <a:solidFill>
                <a:schemeClr val="dk1"/>
              </a:solidFill>
              <a:latin typeface="Times New Roman"/>
              <a:ea typeface="Times New Roman"/>
              <a:cs typeface="Times New Roman"/>
              <a:sym typeface="Times New Roman"/>
            </a:endParaRPr>
          </a:p>
          <a:p>
            <a:pPr indent="-355600" lvl="0" marL="457200" rtl="0" algn="just">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DistilBERT provides balance between:</a:t>
            </a:r>
            <a:endParaRPr sz="2000">
              <a:solidFill>
                <a:schemeClr val="dk1"/>
              </a:solidFill>
              <a:latin typeface="Times New Roman"/>
              <a:ea typeface="Times New Roman"/>
              <a:cs typeface="Times New Roman"/>
              <a:sym typeface="Times New Roman"/>
            </a:endParaRPr>
          </a:p>
          <a:p>
            <a:pPr indent="-355600" lvl="1" marL="914400" rtl="0" algn="just">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Performance</a:t>
            </a:r>
            <a:endParaRPr sz="2000">
              <a:solidFill>
                <a:schemeClr val="dk1"/>
              </a:solidFill>
              <a:latin typeface="Times New Roman"/>
              <a:ea typeface="Times New Roman"/>
              <a:cs typeface="Times New Roman"/>
              <a:sym typeface="Times New Roman"/>
            </a:endParaRPr>
          </a:p>
          <a:p>
            <a:pPr indent="-355600" lvl="1" marL="914400" rtl="0" algn="just">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Efficiency</a:t>
            </a:r>
            <a:endParaRPr sz="2000">
              <a:solidFill>
                <a:schemeClr val="dk1"/>
              </a:solidFill>
              <a:latin typeface="Times New Roman"/>
              <a:ea typeface="Times New Roman"/>
              <a:cs typeface="Times New Roman"/>
              <a:sym typeface="Times New Roman"/>
            </a:endParaRPr>
          </a:p>
          <a:p>
            <a:pPr indent="-355600" lvl="1" marL="914400" rtl="0" algn="just">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Resource usage</a:t>
            </a:r>
            <a:endParaRPr sz="20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sz="11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g3e680274e0a_0_57"/>
          <p:cNvSpPr txBox="1"/>
          <p:nvPr/>
        </p:nvSpPr>
        <p:spPr>
          <a:xfrm>
            <a:off x="460200" y="993525"/>
            <a:ext cx="8223600" cy="4168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800"/>
              </a:spcBef>
              <a:spcAft>
                <a:spcPts val="0"/>
              </a:spcAft>
              <a:buNone/>
            </a:pPr>
            <a:r>
              <a:t/>
            </a:r>
            <a:endParaRPr b="1" sz="1700">
              <a:solidFill>
                <a:schemeClr val="dk1"/>
              </a:solidFill>
            </a:endParaRPr>
          </a:p>
          <a:p>
            <a:pPr indent="-355600" lvl="0" marL="457200" rtl="0" algn="l">
              <a:lnSpc>
                <a:spcPct val="150000"/>
              </a:lnSpc>
              <a:spcBef>
                <a:spcPts val="40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Explore larger transformer models such as BERT, RoBERTa, and ALBERT to compare performance with DistilBERT</a:t>
            </a:r>
            <a:endParaRPr sz="2000">
              <a:solidFill>
                <a:schemeClr val="dk1"/>
              </a:solidFill>
              <a:latin typeface="Times New Roman"/>
              <a:ea typeface="Times New Roman"/>
              <a:cs typeface="Times New Roman"/>
              <a:sym typeface="Times New Roman"/>
            </a:endParaRPr>
          </a:p>
          <a:p>
            <a:pPr indent="-355600" lvl="0" marL="457200" rtl="0" algn="l">
              <a:lnSpc>
                <a:spcPct val="150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Compare CPU vs GPU performance</a:t>
            </a:r>
            <a:endParaRPr sz="2000">
              <a:solidFill>
                <a:schemeClr val="dk1"/>
              </a:solidFill>
              <a:latin typeface="Times New Roman"/>
              <a:ea typeface="Times New Roman"/>
              <a:cs typeface="Times New Roman"/>
              <a:sym typeface="Times New Roman"/>
            </a:endParaRPr>
          </a:p>
          <a:p>
            <a:pPr indent="-355600" lvl="0" marL="457200" rtl="0" algn="l">
              <a:lnSpc>
                <a:spcPct val="150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Apply model to real-time fake news detection systems</a:t>
            </a:r>
            <a:endParaRPr sz="2000">
              <a:solidFill>
                <a:schemeClr val="dk1"/>
              </a:solidFill>
              <a:latin typeface="Times New Roman"/>
              <a:ea typeface="Times New Roman"/>
              <a:cs typeface="Times New Roman"/>
              <a:sym typeface="Times New Roman"/>
            </a:endParaRPr>
          </a:p>
          <a:p>
            <a:pPr indent="-355600" lvl="0" marL="457200" rtl="0" algn="l">
              <a:lnSpc>
                <a:spcPct val="150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Use multilingual datasets for broader applicability</a:t>
            </a:r>
            <a:endParaRPr sz="2000">
              <a:solidFill>
                <a:schemeClr val="dk1"/>
              </a:solidFill>
              <a:latin typeface="Times New Roman"/>
              <a:ea typeface="Times New Roman"/>
              <a:cs typeface="Times New Roman"/>
              <a:sym typeface="Times New Roman"/>
            </a:endParaRPr>
          </a:p>
          <a:p>
            <a:pPr indent="-355600" lvl="0" marL="457200" rtl="0" algn="l">
              <a:lnSpc>
                <a:spcPct val="150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Integrate multimodal data:</a:t>
            </a:r>
            <a:endParaRPr sz="2000">
              <a:solidFill>
                <a:schemeClr val="dk1"/>
              </a:solidFill>
              <a:latin typeface="Times New Roman"/>
              <a:ea typeface="Times New Roman"/>
              <a:cs typeface="Times New Roman"/>
              <a:sym typeface="Times New Roman"/>
            </a:endParaRPr>
          </a:p>
          <a:p>
            <a:pPr indent="-355600" lvl="1" marL="914400" rtl="0" algn="l">
              <a:lnSpc>
                <a:spcPct val="150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Text + images + social signals</a:t>
            </a:r>
            <a:endParaRPr sz="2000">
              <a:solidFill>
                <a:schemeClr val="dk1"/>
              </a:solidFill>
              <a:latin typeface="Times New Roman"/>
              <a:ea typeface="Times New Roman"/>
              <a:cs typeface="Times New Roman"/>
              <a:sym typeface="Times New Roman"/>
            </a:endParaRPr>
          </a:p>
          <a:p>
            <a:pPr indent="-355600" lvl="0" marL="457200" rtl="0" algn="l">
              <a:lnSpc>
                <a:spcPct val="150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Improve preprocessing and hyperparameter tuning</a:t>
            </a:r>
            <a:endParaRPr sz="2000">
              <a:solidFill>
                <a:schemeClr val="dk1"/>
              </a:solidFill>
              <a:latin typeface="Times New Roman"/>
              <a:ea typeface="Times New Roman"/>
              <a:cs typeface="Times New Roman"/>
              <a:sym typeface="Times New Roman"/>
            </a:endParaRPr>
          </a:p>
        </p:txBody>
      </p:sp>
      <p:sp>
        <p:nvSpPr>
          <p:cNvPr id="134" name="Google Shape;134;g3e680274e0a_0_57"/>
          <p:cNvSpPr txBox="1"/>
          <p:nvPr/>
        </p:nvSpPr>
        <p:spPr>
          <a:xfrm>
            <a:off x="455975" y="55825"/>
            <a:ext cx="3000000" cy="677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b="1" lang="en-US" sz="3200">
                <a:solidFill>
                  <a:schemeClr val="lt1"/>
                </a:solidFill>
                <a:latin typeface="Times New Roman"/>
                <a:ea typeface="Times New Roman"/>
                <a:cs typeface="Times New Roman"/>
                <a:sym typeface="Times New Roman"/>
              </a:rPr>
              <a:t>Future Scope</a:t>
            </a:r>
            <a:endParaRPr sz="2900">
              <a:solidFill>
                <a:schemeClr val="lt1"/>
              </a:solidFill>
              <a:latin typeface="Times New Roman"/>
              <a:ea typeface="Times New Roman"/>
              <a:cs typeface="Times New Roman"/>
              <a:sym typeface="Times New Roman"/>
            </a:endParaRPr>
          </a:p>
        </p:txBody>
      </p:sp>
      <p:sp>
        <p:nvSpPr>
          <p:cNvPr id="135" name="Google Shape;135;g3e680274e0a_0_57"/>
          <p:cNvSpPr txBox="1"/>
          <p:nvPr/>
        </p:nvSpPr>
        <p:spPr>
          <a:xfrm>
            <a:off x="0" y="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00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g3e680274e0a_0_73"/>
          <p:cNvSpPr txBox="1"/>
          <p:nvPr/>
        </p:nvSpPr>
        <p:spPr>
          <a:xfrm>
            <a:off x="455375" y="1186700"/>
            <a:ext cx="8224200" cy="377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t/>
            </a:r>
            <a:endParaRPr b="1" sz="1700">
              <a:solidFill>
                <a:schemeClr val="dk1"/>
              </a:solidFill>
            </a:endParaRPr>
          </a:p>
          <a:p>
            <a:pPr indent="-355600" lvl="0" marL="457200" rtl="0" algn="l">
              <a:lnSpc>
                <a:spcPct val="115000"/>
              </a:lnSpc>
              <a:spcBef>
                <a:spcPts val="120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DistilBERT performs effectively even under limited data and CPU constraints</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Achieves near state-of-the-art performance with only 3000 samples</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Increasing data beyond a certain point provides diminishing returns</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Classical models remain strong baselines in low-resource settings</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Preprocessing plays a critical role in model performance</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Study proves that:</a:t>
            </a:r>
            <a:endParaRPr sz="2000">
              <a:solidFill>
                <a:schemeClr val="dk1"/>
              </a:solidFill>
              <a:latin typeface="Times New Roman"/>
              <a:ea typeface="Times New Roman"/>
              <a:cs typeface="Times New Roman"/>
              <a:sym typeface="Times New Roman"/>
            </a:endParaRPr>
          </a:p>
          <a:p>
            <a:pPr indent="-355600" lvl="1" marL="914400" rtl="0" algn="l">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High accuracy is achievable without expensive infrastructure</a:t>
            </a:r>
            <a:endParaRPr sz="2000">
              <a:solidFill>
                <a:schemeClr val="dk1"/>
              </a:solidFill>
              <a:latin typeface="Times New Roman"/>
              <a:ea typeface="Times New Roman"/>
              <a:cs typeface="Times New Roman"/>
              <a:sym typeface="Times New Roman"/>
            </a:endParaRPr>
          </a:p>
          <a:p>
            <a:pPr indent="-355600" lvl="1" marL="914400" rtl="0" algn="l">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Transformers are practical for real-world academic environments</a:t>
            </a:r>
            <a:endParaRPr sz="2000">
              <a:solidFill>
                <a:schemeClr val="dk1"/>
              </a:solidFill>
              <a:latin typeface="Times New Roman"/>
              <a:ea typeface="Times New Roman"/>
              <a:cs typeface="Times New Roman"/>
              <a:sym typeface="Times New Roman"/>
            </a:endParaRPr>
          </a:p>
        </p:txBody>
      </p:sp>
      <p:sp>
        <p:nvSpPr>
          <p:cNvPr id="142" name="Google Shape;142;g3e680274e0a_0_73"/>
          <p:cNvSpPr txBox="1"/>
          <p:nvPr/>
        </p:nvSpPr>
        <p:spPr>
          <a:xfrm>
            <a:off x="455375" y="110400"/>
            <a:ext cx="3000000" cy="677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b="1" lang="en-US" sz="3200">
                <a:solidFill>
                  <a:schemeClr val="lt1"/>
                </a:solidFill>
                <a:latin typeface="Times New Roman"/>
                <a:ea typeface="Times New Roman"/>
                <a:cs typeface="Times New Roman"/>
                <a:sym typeface="Times New Roman"/>
              </a:rPr>
              <a:t>Conclusion</a:t>
            </a:r>
            <a:endParaRPr sz="2900">
              <a:solidFill>
                <a:schemeClr val="lt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680274e0a_0_82"/>
          <p:cNvSpPr txBox="1"/>
          <p:nvPr/>
        </p:nvSpPr>
        <p:spPr>
          <a:xfrm>
            <a:off x="469150" y="1241900"/>
            <a:ext cx="8196600" cy="2363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t/>
            </a:r>
            <a:endParaRPr b="1" sz="1700">
              <a:solidFill>
                <a:schemeClr val="dk1"/>
              </a:solidFill>
            </a:endParaRPr>
          </a:p>
          <a:p>
            <a:pPr indent="-355600" lvl="0" marL="457200" rtl="0" algn="l">
              <a:lnSpc>
                <a:spcPct val="115000"/>
              </a:lnSpc>
              <a:spcBef>
                <a:spcPts val="120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BERT and DistilBERT Research Papers</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WELFake Dataset</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Hugging Face Transformers Documentation</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Scikit-learn Documentation</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TensorFlow/Keras Documentation</a:t>
            </a:r>
            <a:endParaRPr sz="2000">
              <a:solidFill>
                <a:schemeClr val="dk1"/>
              </a:solidFill>
              <a:latin typeface="Times New Roman"/>
              <a:ea typeface="Times New Roman"/>
              <a:cs typeface="Times New Roman"/>
              <a:sym typeface="Times New Roman"/>
            </a:endParaRPr>
          </a:p>
        </p:txBody>
      </p:sp>
      <p:sp>
        <p:nvSpPr>
          <p:cNvPr id="149" name="Google Shape;149;g3e680274e0a_0_82"/>
          <p:cNvSpPr txBox="1"/>
          <p:nvPr/>
        </p:nvSpPr>
        <p:spPr>
          <a:xfrm>
            <a:off x="469150" y="83425"/>
            <a:ext cx="3000000" cy="677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b="1" lang="en-US" sz="3200">
                <a:solidFill>
                  <a:schemeClr val="lt1"/>
                </a:solidFill>
                <a:latin typeface="Times New Roman"/>
                <a:ea typeface="Times New Roman"/>
                <a:cs typeface="Times New Roman"/>
                <a:sym typeface="Times New Roman"/>
              </a:rPr>
              <a:t>References</a:t>
            </a:r>
            <a:endParaRPr sz="3200">
              <a:solidFill>
                <a:schemeClr val="lt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3"/>
          <p:cNvSpPr txBox="1"/>
          <p:nvPr/>
        </p:nvSpPr>
        <p:spPr>
          <a:xfrm>
            <a:off x="1297577" y="2821578"/>
            <a:ext cx="6705599" cy="141078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8000" u="none" cap="none" strike="noStrike">
                <a:solidFill>
                  <a:schemeClr val="dk1"/>
                </a:solidFill>
                <a:latin typeface="Times New Roman"/>
                <a:ea typeface="Times New Roman"/>
                <a:cs typeface="Times New Roman"/>
                <a:sym typeface="Times New Roman"/>
              </a:rPr>
              <a:t>Thank You</a:t>
            </a:r>
            <a:endParaRPr b="0" i="0" sz="8000" u="none" cap="none" strike="noStrike">
              <a:solidFill>
                <a:srgbClr val="000000"/>
              </a:solidFill>
              <a:latin typeface="Times New Roman"/>
              <a:ea typeface="Times New Roman"/>
              <a:cs typeface="Times New Roman"/>
              <a:sym typeface="Times New Roman"/>
            </a:endParaRPr>
          </a:p>
        </p:txBody>
      </p:sp>
      <p:sp>
        <p:nvSpPr>
          <p:cNvPr id="155" name="Google Shape;155;p3"/>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2010-04-09T07:36:15Z</dcterms:created>
  <dc:creator>ABC</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